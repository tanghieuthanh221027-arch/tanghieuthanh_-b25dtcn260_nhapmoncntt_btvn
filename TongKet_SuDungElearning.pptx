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0" r:id="rId1"/>
  </p:sld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4" d="100"/>
          <a:sy n="74" d="100"/>
        </p:scale>
        <p:origin x="104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D1D1EADE-8E88-4C7C-8AC5-FB148DE4940E}" type="datetime1">
              <a:rPr lang="en-US" smtClean="0"/>
              <a:t>10/2/2025</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dirty="0"/>
          </a:p>
        </p:txBody>
      </p:sp>
      <p:sp>
        <p:nvSpPr>
          <p:cNvPr id="6" name="Slide Number Placeholder 5"/>
          <p:cNvSpPr>
            <a:spLocks noGrp="1"/>
          </p:cNvSpPr>
          <p:nvPr>
            <p:ph type="sldNum" sz="quarter" idx="12"/>
          </p:nvPr>
        </p:nvSpPr>
        <p:spPr>
          <a:xfrm>
            <a:off x="8956900" y="5037663"/>
            <a:ext cx="551167" cy="279400"/>
          </a:xfrm>
        </p:spPr>
        <p:txBody>
          <a:bodyPr/>
          <a:lstStyle/>
          <a:p>
            <a:fld id="{87E7843D-FF13-4365-9478-9625B70A2705}"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155468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57B6794-849E-4626-908B-D15793550EFB}" type="datetime1">
              <a:rPr lang="en-US" smtClean="0"/>
              <a:t>10/2/2025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813199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3DB64E7-5594-42A3-ADBF-E95A7ACEAD64}" type="datetime1">
              <a:rPr lang="en-US" smtClean="0"/>
              <a:t>10/2/2025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59995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8462B0B-D248-4FFB-8695-AD7FA4B1284A}" type="datetime1">
              <a:rPr lang="en-US" smtClean="0"/>
              <a:t>10/2/2025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4083391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378EFB-9159-4510-B73F-4F0409ADE937}" type="datetime1">
              <a:rPr lang="en-US" smtClean="0"/>
              <a:t>10/2/2025</a:t>
            </a:fld>
            <a:endParaRPr lang="en-US"/>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7E7843D-FF13-4365-9478-9625B70A2705}"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77145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9BC9412-2452-4BED-A324-9D8C115361AD}" type="datetime1">
              <a:rPr lang="en-US" smtClean="0"/>
              <a:t>10/2/2025</a:t>
            </a:fld>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7E7843D-FF13-4365-9478-9625B70A2705}"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714780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5318F62-D251-40E8-A23C-F4CFE9FEAB41}" type="datetime1">
              <a:rPr lang="en-US" smtClean="0"/>
              <a:t>10/2/2025</a:t>
            </a:fld>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31870742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4F76144-149E-4874-93A5-554A0357CF82}" type="datetime1">
              <a:rPr lang="en-US" smtClean="0"/>
              <a:t>10/2/2025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453438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0BA65D8-0540-4835-AE5C-25D29DBA01BE}" type="datetime1">
              <a:rPr lang="en-US" smtClean="0"/>
              <a:t>10/2/2025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19781393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31BA835-12AC-4E8F-955A-EA3F4DE2791F}" type="datetime1">
              <a:rPr lang="en-US" smtClean="0"/>
              <a:t>10/2/2025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23715680"/>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10/2/2025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9427843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10/2/2025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2840733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10/2/2025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Tree>
    <p:extLst>
      <p:ext uri="{BB962C8B-B14F-4D97-AF65-F5344CB8AC3E}">
        <p14:creationId xmlns:p14="http://schemas.microsoft.com/office/powerpoint/2010/main" val="233786379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10/2/2025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75150598"/>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31BA835-12AC-4E8F-955A-EA3F4DE2791F}" type="datetime1">
              <a:rPr lang="en-US" smtClean="0"/>
              <a:t>10/2/2025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13276919"/>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C8B9C-477D-492A-96AD-1FC2CC997A73}" type="datetime1">
              <a:rPr lang="en-US" smtClean="0"/>
              <a:t>10/2/2025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4824717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D3AED5-E26D-4E29-B1B3-7847B6779594}" type="datetime1">
              <a:rPr lang="en-US" smtClean="0"/>
              <a:t>10/2/2025</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7E7843D-FF13-4365-9478-9625B70A2705}"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107019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E31BA835-12AC-4E8F-955A-EA3F4DE2791F}" type="datetime1">
              <a:rPr lang="en-US" smtClean="0"/>
              <a:t>10/2/2025</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7E7843D-FF13-4365-9478-9625B70A2705}" type="slidenum">
              <a:rPr lang="en-US" smtClean="0"/>
              <a:t>‹#›</a:t>
            </a:fld>
            <a:endParaRPr lang="en-US"/>
          </a:p>
        </p:txBody>
      </p:sp>
    </p:spTree>
    <p:extLst>
      <p:ext uri="{BB962C8B-B14F-4D97-AF65-F5344CB8AC3E}">
        <p14:creationId xmlns:p14="http://schemas.microsoft.com/office/powerpoint/2010/main" val="3343660055"/>
      </p:ext>
    </p:extLst>
  </p:cSld>
  <p:clrMap bg1="lt1" tx1="dk1" bg2="lt2" tx2="dk2" accent1="accent1" accent2="accent2" accent3="accent3" accent4="accent4" accent5="accent5" accent6="accent6" hlink="hlink" folHlink="folHlink"/>
  <p:sldLayoutIdLst>
    <p:sldLayoutId id="2147483751" r:id="rId1"/>
    <p:sldLayoutId id="2147483752" r:id="rId2"/>
    <p:sldLayoutId id="2147483753" r:id="rId3"/>
    <p:sldLayoutId id="2147483754" r:id="rId4"/>
    <p:sldLayoutId id="2147483755" r:id="rId5"/>
    <p:sldLayoutId id="2147483756" r:id="rId6"/>
    <p:sldLayoutId id="2147483757" r:id="rId7"/>
    <p:sldLayoutId id="2147483758" r:id="rId8"/>
    <p:sldLayoutId id="2147483759" r:id="rId9"/>
    <p:sldLayoutId id="2147483760" r:id="rId10"/>
    <p:sldLayoutId id="2147483761" r:id="rId11"/>
    <p:sldLayoutId id="2147483762" r:id="rId12"/>
    <p:sldLayoutId id="2147483763" r:id="rId13"/>
    <p:sldLayoutId id="2147483764" r:id="rId14"/>
    <p:sldLayoutId id="2147483765" r:id="rId15"/>
    <p:sldLayoutId id="2147483766" r:id="rId16"/>
    <p:sldLayoutId id="2147483767" r:id="rId17"/>
  </p:sldLayoutIdLst>
  <p:hf sldNum="0" hdr="0" ftr="0" dt="0"/>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jpeg"/><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7.jpe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jpeg"/><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03E8C8A2-D2DA-42F8-84AA-AC5AB4251D2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6934" y="0"/>
            <a:ext cx="12231160" cy="6856214"/>
            <a:chOff x="-16934" y="0"/>
            <a:chExt cx="12231160" cy="6856214"/>
          </a:xfrm>
        </p:grpSpPr>
        <p:pic>
          <p:nvPicPr>
            <p:cNvPr id="10" name="Picture 9">
              <a:extLst>
                <a:ext uri="{FF2B5EF4-FFF2-40B4-BE49-F238E27FC236}">
                  <a16:creationId xmlns:a16="http://schemas.microsoft.com/office/drawing/2014/main" id="{9A5D1FE1-4883-49B4-AD3E-D0A3F8DCE12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a:blip r:embed="rId3">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1" name="Rectangle 10">
              <a:extLst>
                <a:ext uri="{FF2B5EF4-FFF2-40B4-BE49-F238E27FC236}">
                  <a16:creationId xmlns:a16="http://schemas.microsoft.com/office/drawing/2014/main" id="{7F829EAE-7CB1-410F-BAF1-55BD6DC249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12" name="Picture 11">
              <a:extLst>
                <a:ext uri="{FF2B5EF4-FFF2-40B4-BE49-F238E27FC236}">
                  <a16:creationId xmlns:a16="http://schemas.microsoft.com/office/drawing/2014/main" id="{4EA5F8CE-974F-4443-AB3C-4799C332304B}"/>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13" name="Picture 12">
              <a:extLst>
                <a:ext uri="{FF2B5EF4-FFF2-40B4-BE49-F238E27FC236}">
                  <a16:creationId xmlns:a16="http://schemas.microsoft.com/office/drawing/2014/main" id="{94075D0C-1739-4729-A5C8-5C5707A942F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4">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cxnSp>
        <p:nvCxnSpPr>
          <p:cNvPr id="15" name="Straight Connector 14">
            <a:extLst>
              <a:ext uri="{FF2B5EF4-FFF2-40B4-BE49-F238E27FC236}">
                <a16:creationId xmlns:a16="http://schemas.microsoft.com/office/drawing/2014/main" id="{0DFD28A6-39F3-425F-8050-E5BF1B4523B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 useBgFill="1">
        <p:nvSpPr>
          <p:cNvPr id="17" name="Rectangle 16">
            <a:extLst>
              <a:ext uri="{FF2B5EF4-FFF2-40B4-BE49-F238E27FC236}">
                <a16:creationId xmlns:a16="http://schemas.microsoft.com/office/drawing/2014/main" id="{9B347087-DEE1-4F23-8486-A2690AA195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4BB81AE-EE4A-4AA4-8941-104B6C943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6138" y="488137"/>
            <a:ext cx="11227442" cy="5883295"/>
          </a:xfrm>
          <a:prstGeom prst="rect">
            <a:avLst/>
          </a:prstGeom>
          <a:solidFill>
            <a:schemeClr val="tx2"/>
          </a:solidFill>
          <a:ln>
            <a:noFill/>
          </a:ln>
          <a:effectLst>
            <a:outerShdw blurRad="114300" dist="127000" dir="5400000" sx="99000" sy="99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4" name="Picture 3" descr="Jigsaw puzzles in plastic figures">
            <a:extLst>
              <a:ext uri="{FF2B5EF4-FFF2-40B4-BE49-F238E27FC236}">
                <a16:creationId xmlns:a16="http://schemas.microsoft.com/office/drawing/2014/main" id="{A19F3B96-B658-7D9B-6FC5-D1A0E6CF5323}"/>
              </a:ext>
            </a:extLst>
          </p:cNvPr>
          <p:cNvPicPr>
            <a:picLocks noChangeAspect="1"/>
          </p:cNvPicPr>
          <p:nvPr/>
        </p:nvPicPr>
        <p:blipFill>
          <a:blip r:embed="rId5">
            <a:alphaModFix amt="50000"/>
          </a:blip>
          <a:srcRect t="8043" r="1" b="16289"/>
          <a:stretch>
            <a:fillRect/>
          </a:stretch>
        </p:blipFill>
        <p:spPr>
          <a:xfrm>
            <a:off x="486138" y="488137"/>
            <a:ext cx="11227442" cy="5883295"/>
          </a:xfrm>
          <a:prstGeom prst="rect">
            <a:avLst/>
          </a:prstGeom>
        </p:spPr>
      </p:pic>
      <p:cxnSp>
        <p:nvCxnSpPr>
          <p:cNvPr id="21" name="Straight Connector 20">
            <a:extLst>
              <a:ext uri="{FF2B5EF4-FFF2-40B4-BE49-F238E27FC236}">
                <a16:creationId xmlns:a16="http://schemas.microsoft.com/office/drawing/2014/main" id="{4AA791FC-1AEF-4561-93B5-6B9E981BBB7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2621280" y="3594428"/>
            <a:ext cx="6949440" cy="0"/>
          </a:xfrm>
          <a:prstGeom prst="line">
            <a:avLst/>
          </a:prstGeom>
          <a:ln>
            <a:solidFill>
              <a:schemeClr val="bg1"/>
            </a:solidFill>
          </a:ln>
        </p:spPr>
        <p:style>
          <a:lnRef idx="2">
            <a:schemeClr val="accent1"/>
          </a:lnRef>
          <a:fillRef idx="0">
            <a:schemeClr val="accent1"/>
          </a:fillRef>
          <a:effectRef idx="1">
            <a:schemeClr val="accent1"/>
          </a:effectRef>
          <a:fontRef idx="minor">
            <a:schemeClr val="tx1"/>
          </a:fontRef>
        </p:style>
      </p:cxnSp>
      <p:sp>
        <p:nvSpPr>
          <p:cNvPr id="23" name="Rectangle 22">
            <a:extLst>
              <a:ext uri="{FF2B5EF4-FFF2-40B4-BE49-F238E27FC236}">
                <a16:creationId xmlns:a16="http://schemas.microsoft.com/office/drawing/2014/main" id="{AAA2202F-2A68-464D-8E53-CEBE9303D8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012" y="609600"/>
            <a:ext cx="10972800" cy="5638800"/>
          </a:xfrm>
          <a:prstGeom prst="rect">
            <a:avLst/>
          </a:prstGeom>
          <a:noFill/>
          <a:ln w="15875" cap="flat">
            <a:solidFill>
              <a:schemeClr val="bg1"/>
            </a:solidFill>
            <a:miter lim="800000"/>
          </a:ln>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25" name="Group 24">
            <a:extLst>
              <a:ext uri="{FF2B5EF4-FFF2-40B4-BE49-F238E27FC236}">
                <a16:creationId xmlns:a16="http://schemas.microsoft.com/office/drawing/2014/main" id="{5B129734-DF6D-46B8-A0E0-4F178B3AD2F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3128956"/>
            <a:ext cx="12234672" cy="658368"/>
            <a:chOff x="-18288" y="3128956"/>
            <a:chExt cx="12234672" cy="658368"/>
          </a:xfrm>
        </p:grpSpPr>
        <p:sp useBgFill="1">
          <p:nvSpPr>
            <p:cNvPr id="26" name="Rounded Rectangle 21">
              <a:extLst>
                <a:ext uri="{FF2B5EF4-FFF2-40B4-BE49-F238E27FC236}">
                  <a16:creationId xmlns:a16="http://schemas.microsoft.com/office/drawing/2014/main" id="{6A986578-4991-4E9B-94B7-056F6B09B7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732303"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7" name="Picture 26">
              <a:extLst>
                <a:ext uri="{FF2B5EF4-FFF2-40B4-BE49-F238E27FC236}">
                  <a16:creationId xmlns:a16="http://schemas.microsoft.com/office/drawing/2014/main" id="{257D0097-ACF2-46A6-804C-C5D55A188FE5}"/>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a:off x="-18288" y="3154680"/>
              <a:ext cx="777240" cy="606425"/>
            </a:xfrm>
            <a:prstGeom prst="rect">
              <a:avLst/>
            </a:prstGeom>
          </p:spPr>
        </p:pic>
        <p:sp useBgFill="1">
          <p:nvSpPr>
            <p:cNvPr id="28" name="Rounded Rectangle 27">
              <a:extLst>
                <a:ext uri="{FF2B5EF4-FFF2-40B4-BE49-F238E27FC236}">
                  <a16:creationId xmlns:a16="http://schemas.microsoft.com/office/drawing/2014/main" id="{A71DA5EB-109A-4C2F-A093-7E5F6490B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1414377" y="3128956"/>
              <a:ext cx="45720" cy="658368"/>
            </a:xfrm>
            <a:prstGeom prst="roundRect">
              <a:avLst>
                <a:gd name="adj" fmla="val 50000"/>
              </a:avLst>
            </a:prstGeom>
            <a:ln w="9525">
              <a:noFill/>
            </a:ln>
            <a:effectLst>
              <a:innerShdw blurRad="114300">
                <a:prstClr val="black">
                  <a:alpha val="86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aramond" panose="02020404030301010803"/>
                <a:ea typeface="+mn-ea"/>
                <a:cs typeface="+mn-cs"/>
              </a:endParaRPr>
            </a:p>
          </p:txBody>
        </p:sp>
        <p:pic>
          <p:nvPicPr>
            <p:cNvPr id="29" name="Picture 28">
              <a:extLst>
                <a:ext uri="{FF2B5EF4-FFF2-40B4-BE49-F238E27FC236}">
                  <a16:creationId xmlns:a16="http://schemas.microsoft.com/office/drawing/2014/main" id="{DA85B8CE-EB01-4DD0-8B39-D413503D772C}"/>
                </a:ext>
                <a:ext uri="{C183D7F6-B498-43B3-948B-1728B52AA6E4}">
                  <adec:decorative xmlns:adec="http://schemas.microsoft.com/office/drawing/2017/decorative" val="1"/>
                </a:ext>
              </a:extLst>
            </p:cNvPr>
            <p:cNvPicPr>
              <a:picLocks noChangeAspect="1"/>
            </p:cNvPicPr>
            <p:nvPr>
              <p:extLst>
                <p:ext uri="{386F3935-93C4-4BCD-93E2-E3B085C9AB24}">
                  <p16:designElem xmlns:p16="http://schemas.microsoft.com/office/powerpoint/2015/main" val="1"/>
                </p:ext>
              </p:extLst>
            </p:nvPr>
          </p:nvPicPr>
          <p:blipFill rotWithShape="1">
            <a:blip r:embed="rId6">
              <a:extLst>
                <a:ext uri="{28A0092B-C50C-407E-A947-70E740481C1C}">
                  <a14:useLocalDpi xmlns:a14="http://schemas.microsoft.com/office/drawing/2010/main" val="0"/>
                </a:ext>
              </a:extLst>
            </a:blip>
            <a:srcRect/>
            <a:stretch/>
          </p:blipFill>
          <p:spPr>
            <a:xfrm flipH="1">
              <a:off x="11439144" y="3154680"/>
              <a:ext cx="777240" cy="606425"/>
            </a:xfrm>
            <a:prstGeom prst="rect">
              <a:avLst/>
            </a:prstGeom>
          </p:spPr>
        </p:pic>
      </p:grpSp>
      <p:sp>
        <p:nvSpPr>
          <p:cNvPr id="2" name="Title 1">
            <a:extLst>
              <a:ext uri="{FF2B5EF4-FFF2-40B4-BE49-F238E27FC236}">
                <a16:creationId xmlns:a16="http://schemas.microsoft.com/office/drawing/2014/main" id="{7E264CB1-0AA4-D51C-159B-0403279E40E0}"/>
              </a:ext>
            </a:extLst>
          </p:cNvPr>
          <p:cNvSpPr>
            <a:spLocks noGrp="1"/>
          </p:cNvSpPr>
          <p:nvPr>
            <p:ph type="title"/>
          </p:nvPr>
        </p:nvSpPr>
        <p:spPr>
          <a:xfrm>
            <a:off x="2224403" y="1113698"/>
            <a:ext cx="8229600" cy="2345264"/>
          </a:xfrm>
        </p:spPr>
        <p:txBody>
          <a:bodyPr vert="horz" lIns="91440" tIns="45720" rIns="91440" bIns="45720" rtlCol="0" anchor="b">
            <a:normAutofit/>
          </a:bodyPr>
          <a:lstStyle/>
          <a:p>
            <a:r>
              <a:rPr lang="en-US" sz="7200">
                <a:solidFill>
                  <a:schemeClr val="bg1"/>
                </a:solidFill>
              </a:rPr>
              <a:t>Khảo sát sử dụng hệ thống E-learning 2025</a:t>
            </a:r>
          </a:p>
        </p:txBody>
      </p:sp>
    </p:spTree>
    <p:extLst>
      <p:ext uri="{BB962C8B-B14F-4D97-AF65-F5344CB8AC3E}">
        <p14:creationId xmlns:p14="http://schemas.microsoft.com/office/powerpoint/2010/main" val="4007287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1084B5-4083-C38A-2C0F-2BAFEA3F757B}"/>
              </a:ext>
            </a:extLst>
          </p:cNvPr>
          <p:cNvSpPr>
            <a:spLocks noGrp="1"/>
          </p:cNvSpPr>
          <p:nvPr>
            <p:ph type="title"/>
          </p:nvPr>
        </p:nvSpPr>
        <p:spPr/>
        <p:txBody>
          <a:bodyPr>
            <a:normAutofit/>
          </a:bodyPr>
          <a:lstStyle/>
          <a:p>
            <a:r>
              <a:rPr lang="vi-VN" dirty="0"/>
              <a:t>1. Mục tiêu khảo sát </a:t>
            </a:r>
            <a:endParaRPr lang="en-US" dirty="0"/>
          </a:p>
        </p:txBody>
      </p:sp>
      <p:sp>
        <p:nvSpPr>
          <p:cNvPr id="3" name="Content Placeholder 2">
            <a:extLst>
              <a:ext uri="{FF2B5EF4-FFF2-40B4-BE49-F238E27FC236}">
                <a16:creationId xmlns:a16="http://schemas.microsoft.com/office/drawing/2014/main" id="{DADD0C4D-F338-1853-3D48-DA256F067F35}"/>
              </a:ext>
            </a:extLst>
          </p:cNvPr>
          <p:cNvSpPr>
            <a:spLocks noGrp="1"/>
          </p:cNvSpPr>
          <p:nvPr>
            <p:ph sz="half" idx="1"/>
          </p:nvPr>
        </p:nvSpPr>
        <p:spPr/>
        <p:txBody>
          <a:bodyPr>
            <a:normAutofit fontScale="85000" lnSpcReduction="10000"/>
          </a:bodyPr>
          <a:lstStyle/>
          <a:p>
            <a:r>
              <a:rPr lang="vi-VN" dirty="0"/>
              <a:t>Báo cáo khảo sát này được thực hiện nhằm thu nhập và phân tích thông tin về khả năng học trực tuyến (E-learning) của sinh viên trong giai đoạn hiện nay . Mục tiêu chính là đánh giá mức độ tiếp cận,kỹ năng sử dụng công cụ học online,và thói quen học tập thông qua các nền tảng số như Zoom,Google Meet,Microsoft Teams,hệ thống LMS của nhà trường hoặc các nền tảng MOOC như Coursera,Udemy,edX.</a:t>
            </a:r>
            <a:endParaRPr lang="en-US" dirty="0"/>
          </a:p>
          <a:p>
            <a:endParaRPr lang="en-US" dirty="0"/>
          </a:p>
        </p:txBody>
      </p:sp>
      <p:sp>
        <p:nvSpPr>
          <p:cNvPr id="4" name="Content Placeholder 3">
            <a:extLst>
              <a:ext uri="{FF2B5EF4-FFF2-40B4-BE49-F238E27FC236}">
                <a16:creationId xmlns:a16="http://schemas.microsoft.com/office/drawing/2014/main" id="{1255AE2D-B9DA-0989-2FF1-F1A5B5344A1D}"/>
              </a:ext>
            </a:extLst>
          </p:cNvPr>
          <p:cNvSpPr>
            <a:spLocks noGrp="1"/>
          </p:cNvSpPr>
          <p:nvPr>
            <p:ph sz="half" idx="2"/>
          </p:nvPr>
        </p:nvSpPr>
        <p:spPr/>
        <p:txBody>
          <a:bodyPr>
            <a:normAutofit fontScale="85000" lnSpcReduction="10000"/>
          </a:bodyPr>
          <a:lstStyle/>
          <a:p>
            <a:r>
              <a:rPr lang="vi-VN" dirty="0"/>
              <a:t>Kết quả khảo sát giúp các đơn vị đào tạo hiểu rõ hơn về khóc khăn,thuận lợi mà sinh viên gặp phải khi tham gia học online. Từ đó, nhà trường có thể đưa ra các chính sách , chương trình hỗ trợ phù hợp , nâng cao chất lượng đào tạo và tăng cường tính chủ động trong việc học của sinh viên. </a:t>
            </a:r>
            <a:endParaRPr lang="en-US" dirty="0"/>
          </a:p>
          <a:p>
            <a:endParaRPr lang="en-US" dirty="0"/>
          </a:p>
        </p:txBody>
      </p:sp>
    </p:spTree>
    <p:extLst>
      <p:ext uri="{BB962C8B-B14F-4D97-AF65-F5344CB8AC3E}">
        <p14:creationId xmlns:p14="http://schemas.microsoft.com/office/powerpoint/2010/main" val="3341178335"/>
      </p:ext>
    </p:extLst>
  </p:cSld>
  <p:clrMapOvr>
    <a:masterClrMapping/>
  </p:clrMapOvr>
  <mc:AlternateContent xmlns:mc="http://schemas.openxmlformats.org/markup-compatibility/2006">
    <mc:Choice xmlns:p14="http://schemas.microsoft.com/office/powerpoint/2010/main" Requires="p14">
      <p:transition spd="slow" p14:dur="3000">
        <p14:shred/>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4216F-F2E6-4C5D-F9C0-6914888FAA13}"/>
              </a:ext>
            </a:extLst>
          </p:cNvPr>
          <p:cNvSpPr>
            <a:spLocks noGrp="1"/>
          </p:cNvSpPr>
          <p:nvPr>
            <p:ph type="title"/>
          </p:nvPr>
        </p:nvSpPr>
        <p:spPr/>
        <p:txBody>
          <a:bodyPr>
            <a:normAutofit/>
          </a:bodyPr>
          <a:lstStyle/>
          <a:p>
            <a:r>
              <a:rPr lang="vi-VN" dirty="0"/>
              <a:t>2.Phương pháp khảo sát</a:t>
            </a:r>
            <a:endParaRPr lang="en-US" dirty="0"/>
          </a:p>
        </p:txBody>
      </p:sp>
      <p:sp>
        <p:nvSpPr>
          <p:cNvPr id="6" name="Content Placeholder 5">
            <a:extLst>
              <a:ext uri="{FF2B5EF4-FFF2-40B4-BE49-F238E27FC236}">
                <a16:creationId xmlns:a16="http://schemas.microsoft.com/office/drawing/2014/main" id="{A75C95C8-4773-780B-E91C-B6F92A6D9F96}"/>
              </a:ext>
            </a:extLst>
          </p:cNvPr>
          <p:cNvSpPr>
            <a:spLocks noGrp="1"/>
          </p:cNvSpPr>
          <p:nvPr>
            <p:ph idx="1"/>
          </p:nvPr>
        </p:nvSpPr>
        <p:spPr/>
        <p:txBody>
          <a:bodyPr>
            <a:normAutofit fontScale="92500" lnSpcReduction="20000"/>
          </a:bodyPr>
          <a:lstStyle/>
          <a:p>
            <a:r>
              <a:rPr lang="vi-VN" dirty="0"/>
              <a:t>Khảo sát được thực hiện dưới dạng biểu mẫu Google Form với các thành phần chính sau : </a:t>
            </a:r>
            <a:endParaRPr lang="en-US" dirty="0"/>
          </a:p>
          <a:p>
            <a:pPr lvl="0"/>
            <a:r>
              <a:rPr lang="vi-VN" dirty="0"/>
              <a:t>Thông tin cá nhân : họ tên,MSSV,email,lớp</a:t>
            </a:r>
            <a:endParaRPr lang="en-US" dirty="0"/>
          </a:p>
          <a:p>
            <a:pPr lvl="0"/>
            <a:r>
              <a:rPr lang="vi-VN" dirty="0"/>
              <a:t>Số giờ học trực tuyến trung bình mỗi tuần </a:t>
            </a:r>
            <a:endParaRPr lang="en-US" dirty="0"/>
          </a:p>
          <a:p>
            <a:pPr lvl="0"/>
            <a:r>
              <a:rPr lang="vi-VN" dirty="0"/>
              <a:t>Số buổi học qua Zoom hoặc Google Meet </a:t>
            </a:r>
            <a:endParaRPr lang="en-US" dirty="0"/>
          </a:p>
          <a:p>
            <a:pPr lvl="0"/>
            <a:r>
              <a:rPr lang="vi-VN" dirty="0"/>
              <a:t>Số bài tập đã nộp qua LMS </a:t>
            </a:r>
            <a:endParaRPr lang="en-US" dirty="0"/>
          </a:p>
          <a:p>
            <a:pPr lvl="0"/>
            <a:r>
              <a:rPr lang="vi-VN" dirty="0"/>
              <a:t>Điểm trung bình môn học học online </a:t>
            </a:r>
            <a:endParaRPr lang="en-US" dirty="0"/>
          </a:p>
          <a:p>
            <a:pPr lvl="0"/>
            <a:r>
              <a:rPr lang="vi-VN" dirty="0"/>
              <a:t>Các phản hồi mở về khó khăn hoặc mong muốn cải thiện </a:t>
            </a:r>
            <a:endParaRPr lang="en-US" dirty="0"/>
          </a:p>
          <a:p>
            <a:endParaRPr lang="en-US" dirty="0"/>
          </a:p>
        </p:txBody>
      </p:sp>
    </p:spTree>
    <p:extLst>
      <p:ext uri="{BB962C8B-B14F-4D97-AF65-F5344CB8AC3E}">
        <p14:creationId xmlns:p14="http://schemas.microsoft.com/office/powerpoint/2010/main" val="1079718040"/>
      </p:ext>
    </p:extLst>
  </p:cSld>
  <p:clrMapOvr>
    <a:masterClrMapping/>
  </p:clrMapOvr>
  <mc:AlternateContent xmlns:mc="http://schemas.openxmlformats.org/markup-compatibility/2006">
    <mc:Choice xmlns:p14="http://schemas.microsoft.com/office/powerpoint/2010/main" Requires="p14">
      <p:transition spd="slow" p14:dur="2500">
        <p:checker/>
      </p:transition>
    </mc:Choice>
    <mc:Fallback>
      <p:transition spd="slow">
        <p:checker/>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D8959203-A096-2848-456F-DF99430CDA61}"/>
              </a:ext>
            </a:extLst>
          </p:cNvPr>
          <p:cNvSpPr>
            <a:spLocks noGrp="1"/>
          </p:cNvSpPr>
          <p:nvPr>
            <p:ph type="title"/>
          </p:nvPr>
        </p:nvSpPr>
        <p:spPr/>
        <p:txBody>
          <a:bodyPr/>
          <a:lstStyle/>
          <a:p>
            <a:r>
              <a:rPr lang="vi-VN" dirty="0"/>
              <a:t>3. Thống kê </a:t>
            </a:r>
            <a:endParaRPr lang="en-US" dirty="0"/>
          </a:p>
        </p:txBody>
      </p:sp>
      <p:pic>
        <p:nvPicPr>
          <p:cNvPr id="5" name="Content Placeholder 4" descr="A table of numbers and letters&#10;&#10;AI-generated content may be incorrect.">
            <a:extLst>
              <a:ext uri="{FF2B5EF4-FFF2-40B4-BE49-F238E27FC236}">
                <a16:creationId xmlns:a16="http://schemas.microsoft.com/office/drawing/2014/main" id="{5E5A914C-275A-8B30-5F05-1D5665397389}"/>
              </a:ext>
            </a:extLst>
          </p:cNvPr>
          <p:cNvPicPr>
            <a:picLocks noGrp="1" noChangeAspect="1"/>
          </p:cNvPicPr>
          <p:nvPr>
            <p:ph type="pic" idx="1"/>
          </p:nvPr>
        </p:nvPicPr>
        <p:blipFill>
          <a:blip r:embed="rId3"/>
          <a:srcRect l="3068" r="3068"/>
          <a:stretch/>
        </p:blipFill>
        <p:spPr>
          <a:prstGeom prst="rect">
            <a:avLst/>
          </a:prstGeom>
        </p:spPr>
      </p:pic>
      <p:sp>
        <p:nvSpPr>
          <p:cNvPr id="17" name="Text Placeholder 16">
            <a:extLst>
              <a:ext uri="{FF2B5EF4-FFF2-40B4-BE49-F238E27FC236}">
                <a16:creationId xmlns:a16="http://schemas.microsoft.com/office/drawing/2014/main" id="{F0035C68-89D7-06EB-789B-11982A96C5DB}"/>
              </a:ext>
            </a:extLst>
          </p:cNvPr>
          <p:cNvSpPr>
            <a:spLocks noGrp="1"/>
          </p:cNvSpPr>
          <p:nvPr>
            <p:ph type="body" sz="half" idx="2"/>
          </p:nvPr>
        </p:nvSpPr>
        <p:spPr>
          <a:xfrm>
            <a:off x="1295401" y="5382152"/>
            <a:ext cx="9609666" cy="790047"/>
          </a:xfrm>
        </p:spPr>
        <p:txBody>
          <a:bodyPr>
            <a:normAutofit lnSpcReduction="10000"/>
          </a:bodyPr>
          <a:lstStyle/>
          <a:p>
            <a:r>
              <a:rPr lang="vi-VN" dirty="0"/>
              <a:t>Khoảng 30% sinh viên học trên 10 giờ / tuần , chủ yếu là sinh viên ngành Công nghệ thông tin và Luật . Gần 40% sinh viên phản ánh rằng họ cảm thấy </a:t>
            </a:r>
            <a:r>
              <a:rPr lang="vi-VN" b="1" dirty="0"/>
              <a:t>khó tập trung khi học online </a:t>
            </a:r>
            <a:r>
              <a:rPr lang="vi-VN" dirty="0"/>
              <a:t>, trong khi một số khác cho rằng </a:t>
            </a:r>
            <a:r>
              <a:rPr lang="vi-VN" b="1" dirty="0"/>
              <a:t>việc linh hoạt về thời gian là điểm tích cực</a:t>
            </a:r>
            <a:r>
              <a:rPr lang="vi-VN" dirty="0"/>
              <a:t> của E-learning.</a:t>
            </a:r>
            <a:endParaRPr lang="en-US" dirty="0"/>
          </a:p>
          <a:p>
            <a:endParaRPr lang="en-US" dirty="0"/>
          </a:p>
        </p:txBody>
      </p:sp>
    </p:spTree>
    <p:extLst>
      <p:ext uri="{BB962C8B-B14F-4D97-AF65-F5344CB8AC3E}">
        <p14:creationId xmlns:p14="http://schemas.microsoft.com/office/powerpoint/2010/main" val="2796682289"/>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ircle(in)">
                                      <p:cBhvr>
                                        <p:cTn id="7" dur="2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8CCAC3-2DE0-56F0-A1F0-186AA4D18B05}"/>
              </a:ext>
            </a:extLst>
          </p:cNvPr>
          <p:cNvSpPr>
            <a:spLocks noGrp="1"/>
          </p:cNvSpPr>
          <p:nvPr>
            <p:ph type="title"/>
          </p:nvPr>
        </p:nvSpPr>
        <p:spPr/>
        <p:txBody>
          <a:bodyPr/>
          <a:lstStyle/>
          <a:p>
            <a:r>
              <a:rPr lang="vi-VN" dirty="0"/>
              <a:t>4. Nhận xét </a:t>
            </a:r>
            <a:endParaRPr lang="en-US" dirty="0"/>
          </a:p>
        </p:txBody>
      </p:sp>
      <p:sp>
        <p:nvSpPr>
          <p:cNvPr id="3" name="Content Placeholder 2">
            <a:extLst>
              <a:ext uri="{FF2B5EF4-FFF2-40B4-BE49-F238E27FC236}">
                <a16:creationId xmlns:a16="http://schemas.microsoft.com/office/drawing/2014/main" id="{7C30C5E8-9A47-EBE9-8305-F44F2A0232FE}"/>
              </a:ext>
            </a:extLst>
          </p:cNvPr>
          <p:cNvSpPr>
            <a:spLocks noGrp="1"/>
          </p:cNvSpPr>
          <p:nvPr>
            <p:ph idx="1"/>
          </p:nvPr>
        </p:nvSpPr>
        <p:spPr/>
        <p:txBody>
          <a:bodyPr/>
          <a:lstStyle/>
          <a:p>
            <a:r>
              <a:rPr lang="vi-VN" dirty="0"/>
              <a:t>Kỹ năng học trực tuyến của sinh viên nhìn chung ở mức khá, nhiều sinh viên đã quen thuộc với việc dùng phần mềm hội thảo như Zoom, sử dụng LMS để làm bài và theo dõi tiến độ học tập . Tuy nhiên, vẫn còn một số sinh viên chưa chủ động và còn bị ảnh hưởng bởi yếu tố môi trường như đường truyền Internet không ổn định hoặc không gian học tập chưa phù hợp. </a:t>
            </a:r>
            <a:endParaRPr lang="en-US" dirty="0"/>
          </a:p>
          <a:p>
            <a:endParaRPr lang="en-US" dirty="0"/>
          </a:p>
        </p:txBody>
      </p:sp>
    </p:spTree>
    <p:extLst>
      <p:ext uri="{BB962C8B-B14F-4D97-AF65-F5344CB8AC3E}">
        <p14:creationId xmlns:p14="http://schemas.microsoft.com/office/powerpoint/2010/main" val="2101693070"/>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F1B6393-7A03-8665-B84D-61A366198582}"/>
              </a:ext>
            </a:extLst>
          </p:cNvPr>
          <p:cNvSpPr>
            <a:spLocks noGrp="1"/>
          </p:cNvSpPr>
          <p:nvPr>
            <p:ph type="title"/>
          </p:nvPr>
        </p:nvSpPr>
        <p:spPr/>
        <p:txBody>
          <a:bodyPr/>
          <a:lstStyle/>
          <a:p>
            <a:r>
              <a:rPr lang="vi-VN" dirty="0"/>
              <a:t>5.Kết luận  </a:t>
            </a:r>
            <a:endParaRPr lang="en-US" dirty="0"/>
          </a:p>
        </p:txBody>
      </p:sp>
      <p:sp>
        <p:nvSpPr>
          <p:cNvPr id="6" name="Content Placeholder 5">
            <a:extLst>
              <a:ext uri="{FF2B5EF4-FFF2-40B4-BE49-F238E27FC236}">
                <a16:creationId xmlns:a16="http://schemas.microsoft.com/office/drawing/2014/main" id="{4561665B-0FA2-87A4-9170-5EDFCADBE9EE}"/>
              </a:ext>
            </a:extLst>
          </p:cNvPr>
          <p:cNvSpPr>
            <a:spLocks noGrp="1"/>
          </p:cNvSpPr>
          <p:nvPr>
            <p:ph idx="1"/>
          </p:nvPr>
        </p:nvSpPr>
        <p:spPr/>
        <p:txBody>
          <a:bodyPr/>
          <a:lstStyle/>
          <a:p>
            <a:r>
              <a:rPr lang="vi-VN" dirty="0"/>
              <a:t>Học trực tuyến mang lại nhiều tiện ích như tính linh hoạt , học mọi lúc mọi nơi . Tuy nhiên , để học online hiệu quả đòi hỏi sinh viên cần có tinh thần tự học , kỹ năng công nghệ và khả năng tập trung cao</a:t>
            </a:r>
            <a:endParaRPr lang="en-US" dirty="0"/>
          </a:p>
        </p:txBody>
      </p:sp>
    </p:spTree>
    <p:extLst>
      <p:ext uri="{BB962C8B-B14F-4D97-AF65-F5344CB8AC3E}">
        <p14:creationId xmlns:p14="http://schemas.microsoft.com/office/powerpoint/2010/main" val="1730006162"/>
      </p:ext>
    </p:extLst>
  </p:cSld>
  <p:clrMapOvr>
    <a:masterClrMapping/>
  </p:clrMapOvr>
  <mc:AlternateContent xmlns:mc="http://schemas.openxmlformats.org/markup-compatibility/2006">
    <mc:Choice xmlns:p14="http://schemas.microsoft.com/office/powerpoint/2010/main" Requires="p14">
      <p:transition spd="slow" p14:dur="1600">
        <p:blinds dir="vert"/>
      </p:transition>
    </mc:Choice>
    <mc:Fallback>
      <p:transition spd="slow">
        <p:blinds dir="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circle(in)">
                                      <p:cBhvr>
                                        <p:cTn id="7"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21</TotalTime>
  <Words>460</Words>
  <Application>Microsoft Office PowerPoint</Application>
  <PresentationFormat>Widescreen</PresentationFormat>
  <Paragraphs>18</Paragraphs>
  <Slides>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Garamond</vt:lpstr>
      <vt:lpstr>Organic</vt:lpstr>
      <vt:lpstr>Khảo sát sử dụng hệ thống E-learning 2025</vt:lpstr>
      <vt:lpstr>1. Mục tiêu khảo sát </vt:lpstr>
      <vt:lpstr>2.Phương pháp khảo sát</vt:lpstr>
      <vt:lpstr>3. Thống kê </vt:lpstr>
      <vt:lpstr>4. Nhận xét </vt:lpstr>
      <vt:lpstr>5.Kết luận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Hiếu Thành</dc:creator>
  <cp:lastModifiedBy>Hiếu Thành</cp:lastModifiedBy>
  <cp:revision>1</cp:revision>
  <dcterms:created xsi:type="dcterms:W3CDTF">2025-10-02T02:15:34Z</dcterms:created>
  <dcterms:modified xsi:type="dcterms:W3CDTF">2025-10-02T02:37:21Z</dcterms:modified>
</cp:coreProperties>
</file>