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281" r:id="rId5"/>
    <p:sldId id="284" r:id="rId6"/>
    <p:sldId id="280" r:id="rId7"/>
    <p:sldId id="278" r:id="rId8"/>
    <p:sldId id="261" r:id="rId9"/>
    <p:sldId id="282" r:id="rId10"/>
    <p:sldId id="273" r:id="rId11"/>
    <p:sldId id="28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napToGrid="0">
      <p:cViewPr varScale="1">
        <p:scale>
          <a:sx n="74" d="100"/>
          <a:sy n="74" d="100"/>
        </p:scale>
        <p:origin x="1042" y="6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10/10/2025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3155431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10/10/2025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10/10/2025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10/10/2025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2.png"/><Relationship Id="rId7" Type="http://schemas.openxmlformats.org/officeDocument/2006/relationships/slide" Target="slide4.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8.xml"/><Relationship Id="rId5" Type="http://schemas.openxmlformats.org/officeDocument/2006/relationships/image" Target="../media/image3.jpg"/><Relationship Id="rId10" Type="http://schemas.openxmlformats.org/officeDocument/2006/relationships/slide" Target="slide7.xml"/><Relationship Id="rId4" Type="http://schemas.microsoft.com/office/2007/relationships/hdphoto" Target="../media/hdphoto1.wdp"/><Relationship Id="rId9" Type="http://schemas.openxmlformats.org/officeDocument/2006/relationships/slide" Target="slide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pn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3">
            <a:alphaModFix amt="52000"/>
            <a:extLst>
              <a:ext uri="{BEBA8EAE-BF5A-486C-A8C5-ECC9F3942E4B}">
                <a14:imgProps xmlns:a14="http://schemas.microsoft.com/office/drawing/2010/main">
                  <a14:imgLayer r:embed="rId4">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607127" y="0"/>
            <a:ext cx="9144000" cy="2286000"/>
          </a:xfrm>
        </p:spPr>
        <p:txBody>
          <a:bodyPr/>
          <a:lstStyle/>
          <a:p>
            <a:r>
              <a:rPr lang="en-US" b="1" dirty="0"/>
              <a:t>TỔNG KẾT KHẢO SÁT TOP NGÔN NGỮ LẬP TRÌNH 2025</a:t>
            </a:r>
            <a:endParaRPr lang="en-US" dirty="0"/>
          </a:p>
        </p:txBody>
      </p:sp>
      <p:pic>
        <p:nvPicPr>
          <p:cNvPr id="3" name="Picture 2" descr="A red and white logo&#10;&#10;AI-generated content may be incorrect.">
            <a:extLst>
              <a:ext uri="{FF2B5EF4-FFF2-40B4-BE49-F238E27FC236}">
                <a16:creationId xmlns:a16="http://schemas.microsoft.com/office/drawing/2014/main" id="{BD097BE9-0F6A-DDE0-EED7-518FE7D3BD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423555" cy="1423555"/>
          </a:xfrm>
          <a:prstGeom prst="rect">
            <a:avLst/>
          </a:prstGeom>
        </p:spPr>
      </p:pic>
      <p:sp>
        <p:nvSpPr>
          <p:cNvPr id="5" name="TextBox 4">
            <a:extLst>
              <a:ext uri="{FF2B5EF4-FFF2-40B4-BE49-F238E27FC236}">
                <a16:creationId xmlns:a16="http://schemas.microsoft.com/office/drawing/2014/main" id="{5C7FDAE2-3274-A3D1-AD09-FC3763CF9E0A}"/>
              </a:ext>
            </a:extLst>
          </p:cNvPr>
          <p:cNvSpPr txBox="1"/>
          <p:nvPr/>
        </p:nvSpPr>
        <p:spPr>
          <a:xfrm>
            <a:off x="93518" y="1953491"/>
            <a:ext cx="12098482" cy="1754326"/>
          </a:xfrm>
          <a:prstGeom prst="rect">
            <a:avLst/>
          </a:prstGeom>
          <a:noFill/>
        </p:spPr>
        <p:txBody>
          <a:bodyPr wrap="square" rtlCol="0">
            <a:spAutoFit/>
          </a:bodyPr>
          <a:lstStyle/>
          <a:p>
            <a:r>
              <a:rPr lang="vi-VN" dirty="0">
                <a:hlinkClick r:id="rId6" action="ppaction://hlinksldjump"/>
              </a:rPr>
              <a:t>1 Mục tiêu khảo sát </a:t>
            </a:r>
            <a:endParaRPr lang="vi-VN" dirty="0"/>
          </a:p>
          <a:p>
            <a:r>
              <a:rPr lang="vi-VN" dirty="0">
                <a:hlinkClick r:id="rId7" action="ppaction://hlinksldjump"/>
              </a:rPr>
              <a:t>2.Phương pháp thực hiện </a:t>
            </a:r>
            <a:endParaRPr lang="vi-VN" dirty="0"/>
          </a:p>
          <a:p>
            <a:r>
              <a:rPr lang="vi-VN" dirty="0">
                <a:hlinkClick r:id="rId8" action="ppaction://hlinksldjump"/>
              </a:rPr>
              <a:t>3. Thống kê khảo sát </a:t>
            </a:r>
            <a:endParaRPr lang="vi-VN" dirty="0"/>
          </a:p>
          <a:p>
            <a:r>
              <a:rPr lang="vi-VN" dirty="0">
                <a:hlinkClick r:id="rId9" action="ppaction://hlinksldjump"/>
              </a:rPr>
              <a:t>4.Điểm mạnh điểm yếu</a:t>
            </a:r>
            <a:endParaRPr lang="vi-VN" dirty="0"/>
          </a:p>
          <a:p>
            <a:r>
              <a:rPr lang="vi-VN" dirty="0">
                <a:hlinkClick r:id="rId10" action="ppaction://hlinksldjump"/>
              </a:rPr>
              <a:t>5. Kết luận</a:t>
            </a:r>
            <a:endParaRPr lang="vi-VN" dirty="0"/>
          </a:p>
          <a:p>
            <a:r>
              <a:rPr lang="vi-VN" dirty="0">
                <a:hlinkClick r:id="rId11" action="ppaction://hlinksldjump"/>
              </a:rPr>
              <a:t>6. Kiến nghị cải thiện </a:t>
            </a:r>
            <a:endParaRPr lang="en-US" dirty="0"/>
          </a:p>
        </p:txBody>
      </p:sp>
    </p:spTree>
    <p:extLst>
      <p:ext uri="{BB962C8B-B14F-4D97-AF65-F5344CB8AC3E}">
        <p14:creationId xmlns:p14="http://schemas.microsoft.com/office/powerpoint/2010/main" val="63926476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656334" y="602672"/>
            <a:ext cx="4837176" cy="1993392"/>
          </a:xfrm>
          <a:noFill/>
        </p:spPr>
        <p:txBody>
          <a:bodyPr anchor="b">
            <a:noAutofit/>
          </a:bodyPr>
          <a:lstStyle/>
          <a:p>
            <a:r>
              <a:rPr lang="vi-VN" dirty="0"/>
              <a:t>Mục tiêu khảo sát </a:t>
            </a:r>
            <a:endParaRPr lang="en-US" dirty="0"/>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2752344"/>
            <a:ext cx="4837174" cy="3136392"/>
          </a:xfrm>
          <a:noFill/>
        </p:spPr>
        <p:txBody>
          <a:bodyPr anchor="t">
            <a:normAutofit fontScale="92500" lnSpcReduction="10000"/>
          </a:bodyPr>
          <a:lstStyle/>
          <a:p>
            <a:r>
              <a:rPr lang="vi-VN" dirty="0"/>
              <a:t>Khảo sát này nhằm đánh giá các ngôn ngữ lập trình phổ biến mà sinh viên trong các trường đại học và cao đẳng ngành công nghệ thông tin sử dụng , từ đó giúp xác định xu hướng học tập , ứng dụng và phát triển của sinh viên trong lĩnh vực lập trình </a:t>
            </a:r>
            <a:endParaRPr lang="en-US" dirty="0"/>
          </a:p>
          <a:p>
            <a:endParaRPr lang="en-US" dirty="0"/>
          </a:p>
        </p:txBody>
      </p:sp>
    </p:spTree>
    <p:extLst>
      <p:ext uri="{BB962C8B-B14F-4D97-AF65-F5344CB8AC3E}">
        <p14:creationId xmlns:p14="http://schemas.microsoft.com/office/powerpoint/2010/main" val="1672017990"/>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524000" y="2286000"/>
            <a:ext cx="9144000" cy="2286000"/>
          </a:xfrm>
        </p:spPr>
        <p:txBody>
          <a:bodyPr/>
          <a:lstStyle/>
          <a:p>
            <a:r>
              <a:rPr lang="vi-VN" dirty="0"/>
              <a:t>Phương pháp thực hiện </a:t>
            </a:r>
            <a:endParaRPr lang="en-US" dirty="0"/>
          </a:p>
        </p:txBody>
      </p:sp>
    </p:spTree>
    <p:extLst>
      <p:ext uri="{BB962C8B-B14F-4D97-AF65-F5344CB8AC3E}">
        <p14:creationId xmlns:p14="http://schemas.microsoft.com/office/powerpoint/2010/main" val="467869221"/>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117600" y="762000"/>
            <a:ext cx="5066250" cy="2900680"/>
          </a:xfrm>
          <a:noFill/>
        </p:spPr>
        <p:txBody>
          <a:bodyPr>
            <a:noAutofit/>
          </a:bodyPr>
          <a:lstStyle/>
          <a:p>
            <a:r>
              <a:rPr lang="vi-VN" sz="2000" dirty="0"/>
              <a:t>Quy trình: Lên kế hoạch → Thiết kế bảng hỏi → Thu thập dữ liệu → Phân tích → Báo cáo</a:t>
            </a:r>
            <a:br>
              <a:rPr lang="vi-VN" sz="2000" dirty="0"/>
            </a:br>
            <a:r>
              <a:rPr lang="vi-VN" sz="2000" dirty="0"/>
              <a:t>• Tổng số người tham gia: 250 sinh viên &amp; 30 giảng viên</a:t>
            </a:r>
            <a:br>
              <a:rPr lang="vi-VN" sz="2000" dirty="0"/>
            </a:br>
            <a:r>
              <a:rPr lang="vi-VN" sz="2000" dirty="0"/>
              <a:t>• Hình thức khảo sát: Google Form trực tuyến</a:t>
            </a:r>
            <a:br>
              <a:rPr lang="vi-VN" sz="2000" dirty="0"/>
            </a:br>
            <a:r>
              <a:rPr lang="vi-VN" sz="2000" dirty="0"/>
              <a:t>• Thời gian thực hiện: 1/8 – 10/8/2025</a:t>
            </a:r>
            <a:endParaRPr lang="en-US" sz="2000" dirty="0"/>
          </a:p>
        </p:txBody>
      </p:sp>
      <p:pic>
        <p:nvPicPr>
          <p:cNvPr id="91" name="Picture Placeholder 90" descr="A person sitting at a table with her fingers up">
            <a:extLst>
              <a:ext uri="{FF2B5EF4-FFF2-40B4-BE49-F238E27FC236}">
                <a16:creationId xmlns:a16="http://schemas.microsoft.com/office/drawing/2014/main" id="{BC622EA4-CCB7-907A-0126-D0A68A5DC78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451" r="451"/>
          <a:stretch/>
        </p:blipFill>
        <p:spPr>
          <a:xfrm flipH="1">
            <a:off x="6086167" y="-22225"/>
            <a:ext cx="6080760" cy="6902450"/>
          </a:xfrm>
        </p:spPr>
      </p:pic>
      <p:sp>
        <p:nvSpPr>
          <p:cNvPr id="15" name="Subtitle 14">
            <a:extLst>
              <a:ext uri="{FF2B5EF4-FFF2-40B4-BE49-F238E27FC236}">
                <a16:creationId xmlns:a16="http://schemas.microsoft.com/office/drawing/2014/main" id="{9C373000-EEA1-D16F-189A-338FFDA2E708}"/>
              </a:ext>
            </a:extLst>
          </p:cNvPr>
          <p:cNvSpPr>
            <a:spLocks noGrp="1"/>
          </p:cNvSpPr>
          <p:nvPr>
            <p:ph type="subTitle" idx="1"/>
          </p:nvPr>
        </p:nvSpPr>
        <p:spPr>
          <a:xfrm>
            <a:off x="1117600" y="4145280"/>
            <a:ext cx="5066250" cy="690880"/>
          </a:xfrm>
        </p:spPr>
        <p:txBody>
          <a:bodyPr/>
          <a:lstStyle/>
          <a:p>
            <a:r>
              <a:rPr lang="vi-VN" dirty="0"/>
              <a:t>Phương pháp thực hiện</a:t>
            </a:r>
            <a:endParaRPr lang="en-US" dirty="0"/>
          </a:p>
        </p:txBody>
      </p:sp>
    </p:spTree>
    <p:extLst>
      <p:ext uri="{BB962C8B-B14F-4D97-AF65-F5344CB8AC3E}">
        <p14:creationId xmlns:p14="http://schemas.microsoft.com/office/powerpoint/2010/main" val="393043852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
                                            <p:txEl>
                                              <p:pRg st="0" end="0"/>
                                            </p:txEl>
                                          </p:spTgt>
                                        </p:tgtEl>
                                      </p:cBhvr>
                                    </p:animEffect>
                                    <p:set>
                                      <p:cBhvr>
                                        <p:cTn id="7" dur="1" fill="hold">
                                          <p:stCondLst>
                                            <p:cond delay="499"/>
                                          </p:stCondLst>
                                        </p:cTn>
                                        <p:tgtEl>
                                          <p:spTgt spid="15">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vi-VN" dirty="0"/>
              <a:t>Thống kê khảo sát </a:t>
            </a:r>
            <a:endParaRPr lang="en-US" dirty="0"/>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pic>
        <p:nvPicPr>
          <p:cNvPr id="4" name="Content Placeholder 3" descr="A screenshot of a phone&#10;&#10;AI-generated content may be incorrect.">
            <a:extLst>
              <a:ext uri="{FF2B5EF4-FFF2-40B4-BE49-F238E27FC236}">
                <a16:creationId xmlns:a16="http://schemas.microsoft.com/office/drawing/2014/main" id="{FF6815A6-EDA5-70B5-81E8-B33F79DAB9F7}"/>
              </a:ext>
            </a:extLst>
          </p:cNvPr>
          <p:cNvPicPr>
            <a:picLocks noGrp="1" noChangeAspect="1"/>
          </p:cNvPicPr>
          <p:nvPr>
            <p:ph idx="1"/>
          </p:nvPr>
        </p:nvPicPr>
        <p:blipFill>
          <a:blip r:embed="rId5"/>
          <a:stretch>
            <a:fillRect/>
          </a:stretch>
        </p:blipFill>
        <p:spPr>
          <a:xfrm>
            <a:off x="5106844" y="1682720"/>
            <a:ext cx="6242050" cy="2826935"/>
          </a:xfrm>
          <a:prstGeom prst="rect">
            <a:avLst/>
          </a:prstGeom>
        </p:spPr>
      </p:pic>
    </p:spTree>
    <p:extLst>
      <p:ext uri="{BB962C8B-B14F-4D97-AF65-F5344CB8AC3E}">
        <p14:creationId xmlns:p14="http://schemas.microsoft.com/office/powerpoint/2010/main" val="3666674671"/>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vi-VN" dirty="0"/>
              <a:t>Phân tích điểm mạnh điểm yếu  </a:t>
            </a:r>
            <a:endParaRPr lang="en-US" dirty="0"/>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1714" y="3239858"/>
            <a:ext cx="9467850" cy="2527911"/>
          </a:xfrm>
        </p:spPr>
        <p:txBody>
          <a:bodyPr>
            <a:normAutofit lnSpcReduction="10000"/>
          </a:bodyPr>
          <a:lstStyle/>
          <a:p>
            <a:r>
              <a:rPr lang="vi-VN" sz="2800" dirty="0"/>
              <a:t>• Python: Ưu – Dễ học, mạnh về AI &amp; Dữ liệu; Nhược – Hiệu suất thấp.</a:t>
            </a:r>
          </a:p>
          <a:p>
            <a:r>
              <a:rPr lang="vi-VN" sz="2800" dirty="0"/>
              <a:t>• JavaScript: Ưu – Phổ biến trong web/app; Nhược – Cần framework phức tạp.</a:t>
            </a:r>
          </a:p>
          <a:p>
            <a:r>
              <a:rPr lang="vi-VN" sz="2800" dirty="0"/>
              <a:t>• Java: Ưu – Ổn định, mạnh mẽ; Nhược – Cú pháp dài, nặng.</a:t>
            </a:r>
          </a:p>
          <a:p>
            <a:r>
              <a:rPr lang="vi-VN" sz="2800" dirty="0"/>
              <a:t>• C++: Ưu – Hiệu năng cao; Nhược – Khó học, khó bảo trì.</a:t>
            </a:r>
          </a:p>
          <a:p>
            <a:endParaRPr lang="en-US" dirty="0"/>
          </a:p>
        </p:txBody>
      </p:sp>
    </p:spTree>
    <p:extLst>
      <p:ext uri="{BB962C8B-B14F-4D97-AF65-F5344CB8AC3E}">
        <p14:creationId xmlns:p14="http://schemas.microsoft.com/office/powerpoint/2010/main" val="2184472291"/>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7"/>
                                        </p:tgtEl>
                                      </p:cBhvr>
                                    </p:animEffect>
                                    <p:anim calcmode="lin" valueType="num">
                                      <p:cBhvr>
                                        <p:cTn id="7" dur="2000"/>
                                        <p:tgtEl>
                                          <p:spTgt spid="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7"/>
                                        </p:tgtEl>
                                        <p:attrNameLst>
                                          <p:attrName>ppt_h</p:attrName>
                                        </p:attrNameLst>
                                      </p:cBhvr>
                                      <p:tavLst>
                                        <p:tav tm="0">
                                          <p:val>
                                            <p:strVal val="ppt_h"/>
                                          </p:val>
                                        </p:tav>
                                        <p:tav tm="100000">
                                          <p:val>
                                            <p:strVal val="ppt_h"/>
                                          </p:val>
                                        </p:tav>
                                      </p:tavLst>
                                    </p:anim>
                                    <p:set>
                                      <p:cBhvr>
                                        <p:cTn id="9" dur="1" fill="hold">
                                          <p:stCondLst>
                                            <p:cond delay="1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1524000" y="1143000"/>
            <a:ext cx="9144000" cy="2286000"/>
          </a:xfrm>
          <a:noFill/>
        </p:spPr>
        <p:txBody>
          <a:bodyPr/>
          <a:lstStyle/>
          <a:p>
            <a:r>
              <a:rPr lang="vi-VN" dirty="0"/>
              <a:t>Kết luận </a:t>
            </a:r>
            <a:endParaRPr lang="en-US" dirty="0"/>
          </a:p>
        </p:txBody>
      </p:sp>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1524000" y="3835198"/>
            <a:ext cx="9144000" cy="3022802"/>
          </a:xfrm>
        </p:spPr>
        <p:txBody>
          <a:bodyPr>
            <a:normAutofit/>
          </a:bodyPr>
          <a:lstStyle/>
          <a:p>
            <a:r>
              <a:rPr lang="vi-VN" sz="2000" dirty="0"/>
              <a:t>• Python và JavaScript vẫn dẫn đầu xu hướng năm 2025.</a:t>
            </a:r>
          </a:p>
          <a:p>
            <a:r>
              <a:rPr lang="vi-VN" sz="2000" dirty="0"/>
              <a:t>• AI, Web và Data Science là lĩnh vực được ưu tiên học tập.</a:t>
            </a:r>
          </a:p>
          <a:p>
            <a:r>
              <a:rPr lang="vi-VN" sz="2000" dirty="0"/>
              <a:t>• Xu hướng đa ngôn ngữ (Polyglot Programming) ngày càng phổ biến.</a:t>
            </a:r>
          </a:p>
          <a:p>
            <a:r>
              <a:rPr lang="vi-VN" sz="2000" dirty="0"/>
              <a:t>• Cần tăng cường đào tạo kỹ năng lập trình thực tế.</a:t>
            </a:r>
          </a:p>
          <a:p>
            <a:endParaRPr lang="en-US" dirty="0"/>
          </a:p>
        </p:txBody>
      </p:sp>
    </p:spTree>
    <p:extLst>
      <p:ext uri="{BB962C8B-B14F-4D97-AF65-F5344CB8AC3E}">
        <p14:creationId xmlns:p14="http://schemas.microsoft.com/office/powerpoint/2010/main" val="1679936628"/>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2"/>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369DF-D8EC-50CA-050B-A3A65AEB3075}"/>
              </a:ext>
            </a:extLst>
          </p:cNvPr>
          <p:cNvSpPr>
            <a:spLocks noGrp="1"/>
          </p:cNvSpPr>
          <p:nvPr>
            <p:ph type="ctrTitle"/>
          </p:nvPr>
        </p:nvSpPr>
        <p:spPr/>
        <p:txBody>
          <a:bodyPr/>
          <a:lstStyle/>
          <a:p>
            <a:r>
              <a:rPr lang="vi-VN" dirty="0"/>
              <a:t>Kiến nghị cải thiện </a:t>
            </a:r>
            <a:endParaRPr lang="en-US" dirty="0"/>
          </a:p>
        </p:txBody>
      </p:sp>
      <p:sp>
        <p:nvSpPr>
          <p:cNvPr id="3" name="Subtitle 2">
            <a:extLst>
              <a:ext uri="{FF2B5EF4-FFF2-40B4-BE49-F238E27FC236}">
                <a16:creationId xmlns:a16="http://schemas.microsoft.com/office/drawing/2014/main" id="{666BC876-1A9E-F083-BDC6-42CDC19C818B}"/>
              </a:ext>
            </a:extLst>
          </p:cNvPr>
          <p:cNvSpPr>
            <a:spLocks noGrp="1"/>
          </p:cNvSpPr>
          <p:nvPr>
            <p:ph type="subTitle" idx="1"/>
          </p:nvPr>
        </p:nvSpPr>
        <p:spPr>
          <a:xfrm>
            <a:off x="1524000" y="3835198"/>
            <a:ext cx="9144000" cy="2887720"/>
          </a:xfrm>
        </p:spPr>
        <p:txBody>
          <a:bodyPr/>
          <a:lstStyle/>
          <a:p>
            <a:r>
              <a:rPr lang="vi-VN" dirty="0"/>
              <a:t>• Thành lập CLB Kỹ năng lập trình tại trường.</a:t>
            </a:r>
          </a:p>
          <a:p>
            <a:r>
              <a:rPr lang="vi-VN" dirty="0"/>
              <a:t>• Mở các workshop về Python, JavaScript.</a:t>
            </a:r>
          </a:p>
          <a:p>
            <a:r>
              <a:rPr lang="vi-VN" dirty="0"/>
              <a:t>• Khuyến khích sinh viên tham gia dự án mã nguồn mở (open source).</a:t>
            </a:r>
          </a:p>
          <a:p>
            <a:endParaRPr lang="en-US" dirty="0"/>
          </a:p>
        </p:txBody>
      </p:sp>
      <p:sp>
        <p:nvSpPr>
          <p:cNvPr id="4" name="TextBox 3">
            <a:extLst>
              <a:ext uri="{FF2B5EF4-FFF2-40B4-BE49-F238E27FC236}">
                <a16:creationId xmlns:a16="http://schemas.microsoft.com/office/drawing/2014/main" id="{8149F572-ABB7-D5F1-B980-EAED9CB79F9E}"/>
              </a:ext>
            </a:extLst>
          </p:cNvPr>
          <p:cNvSpPr txBox="1"/>
          <p:nvPr/>
        </p:nvSpPr>
        <p:spPr>
          <a:xfrm>
            <a:off x="270164" y="166255"/>
            <a:ext cx="2763981" cy="369332"/>
          </a:xfrm>
          <a:prstGeom prst="rect">
            <a:avLst/>
          </a:prstGeom>
          <a:noFill/>
        </p:spPr>
        <p:txBody>
          <a:bodyPr wrap="square" rtlCol="0">
            <a:spAutoFit/>
          </a:bodyPr>
          <a:lstStyle/>
          <a:p>
            <a:r>
              <a:rPr lang="vi-VN" dirty="0">
                <a:hlinkClick r:id="rId2" action="ppaction://hlinksldjump"/>
              </a:rPr>
              <a:t>Trang chính </a:t>
            </a:r>
            <a:endParaRPr lang="en-US" dirty="0"/>
          </a:p>
        </p:txBody>
      </p:sp>
    </p:spTree>
    <p:extLst>
      <p:ext uri="{BB962C8B-B14F-4D97-AF65-F5344CB8AC3E}">
        <p14:creationId xmlns:p14="http://schemas.microsoft.com/office/powerpoint/2010/main" val="161294058"/>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2"/>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{C8289787-6285-4AB3-91A6-62AF2F6F7722}TFb73f27a7-0404-48d9-96f8-0ca8d35477ec68e4afe9_win32-7b62b493978d</Template>
  <TotalTime>33</TotalTime>
  <Words>360</Words>
  <Application>Microsoft Office PowerPoint</Application>
  <PresentationFormat>Widescreen</PresentationFormat>
  <Paragraphs>33</Paragraphs>
  <Slides>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Calibri Light</vt:lpstr>
      <vt:lpstr>Wingdings</vt:lpstr>
      <vt:lpstr>Custom</vt:lpstr>
      <vt:lpstr>TỔNG KẾT KHẢO SÁT TOP NGÔN NGỮ LẬP TRÌNH 2025</vt:lpstr>
      <vt:lpstr>Mục tiêu khảo sát </vt:lpstr>
      <vt:lpstr>Phương pháp thực hiện </vt:lpstr>
      <vt:lpstr>Quy trình: Lên kế hoạch → Thiết kế bảng hỏi → Thu thập dữ liệu → Phân tích → Báo cáo • Tổng số người tham gia: 250 sinh viên &amp; 30 giảng viên • Hình thức khảo sát: Google Form trực tuyến • Thời gian thực hiện: 1/8 – 10/8/2025</vt:lpstr>
      <vt:lpstr>Thống kê khảo sát </vt:lpstr>
      <vt:lpstr>Phân tích điểm mạnh điểm yếu  </vt:lpstr>
      <vt:lpstr>Kết luận </vt:lpstr>
      <vt:lpstr>Kiến nghị cải thiện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Hiếu Thành</dc:creator>
  <cp:lastModifiedBy>Hiếu Thành</cp:lastModifiedBy>
  <cp:revision>1</cp:revision>
  <dcterms:created xsi:type="dcterms:W3CDTF">2025-10-10T02:28:39Z</dcterms:created>
  <dcterms:modified xsi:type="dcterms:W3CDTF">2025-10-10T03:02:16Z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